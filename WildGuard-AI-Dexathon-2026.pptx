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660"/>
  </p:normalViewPr>
  <p:slideViewPr>
    <p:cSldViewPr snapToGrid="0">
      <p:cViewPr varScale="1">
        <p:scale>
          <a:sx n="95" d="100"/>
          <a:sy n="95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6C462-1935-46BC-B1D9-CEEB4E0F088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90E43-B470-40BF-82F8-6E3429F63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13" y="323819"/>
            <a:ext cx="2729012" cy="843082"/>
          </a:xfrm>
          <a:prstGeom prst="rect">
            <a:avLst/>
          </a:prstGeom>
        </p:spPr>
      </p:pic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371475" y="317536"/>
            <a:ext cx="2720526" cy="85564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34365" y="1188206"/>
            <a:ext cx="2245360" cy="115113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168626"/>
              </a:avLst>
            </a:prstTxWarp>
            <a:spAutoFit/>
          </a:bodyPr>
          <a:lstStyle/>
          <a:p>
            <a:pPr algn="ctr"/>
            <a:r>
              <a:rPr lang="en-IN" sz="3600" b="1" dirty="0">
                <a:ln w="38100">
                  <a:noFill/>
                </a:ln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Google Shape;202;p45">
            <a:extLst>
              <a:ext uri="{FF2B5EF4-FFF2-40B4-BE49-F238E27FC236}">
                <a16:creationId xmlns:a16="http://schemas.microsoft.com/office/drawing/2014/main" id="{DD4D71D2-3825-2E15-CA0A-23703391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11084560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6923A3-B18A-9065-C726-BBC5A9C67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11084560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4880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" y="323819"/>
            <a:ext cx="2729012" cy="84308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 userDrawn="1"/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6616167" y="1989603"/>
            <a:ext cx="5135805" cy="1615293"/>
          </a:xfrm>
          <a:prstGeom prst="rect">
            <a:avLst/>
          </a:prstGeom>
        </p:spPr>
      </p:pic>
      <p:sp>
        <p:nvSpPr>
          <p:cNvPr id="7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136640" y="3757726"/>
            <a:ext cx="6176138" cy="4410914"/>
          </a:xfrm>
          <a:prstGeom prst="rect">
            <a:avLst/>
          </a:prstGeom>
          <a:noFill/>
        </p:spPr>
        <p:txBody>
          <a:bodyPr spcFirstLastPara="1" wrap="square" numCol="1" rtlCol="0">
            <a:prstTxWarp prst="textArchUp">
              <a:avLst>
                <a:gd name="adj" fmla="val 5730049"/>
              </a:avLst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0" b="1" dirty="0">
                <a:ln w="38100">
                  <a:noFill/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Google Shape;202;p45">
            <a:extLst>
              <a:ext uri="{FF2B5EF4-FFF2-40B4-BE49-F238E27FC236}">
                <a16:creationId xmlns:a16="http://schemas.microsoft.com/office/drawing/2014/main" id="{BEE938DF-602A-6074-42C8-C7067316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8030667F-3367-8E49-0E6C-D1D034904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9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1584E-8195-1F65-B6B5-60C5A2F96AFC}"/>
              </a:ext>
            </a:extLst>
          </p:cNvPr>
          <p:cNvGrpSpPr/>
          <p:nvPr userDrawn="1"/>
        </p:nvGrpSpPr>
        <p:grpSpPr>
          <a:xfrm>
            <a:off x="0" y="6002322"/>
            <a:ext cx="12192000" cy="863628"/>
            <a:chOff x="0" y="5921502"/>
            <a:chExt cx="12192000" cy="93649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E944D-0FA2-4F5D-D47C-AEC29E4EC8C8}"/>
                </a:ext>
              </a:extLst>
            </p:cNvPr>
            <p:cNvSpPr/>
            <p:nvPr/>
          </p:nvSpPr>
          <p:spPr>
            <a:xfrm>
              <a:off x="4768850" y="6034196"/>
              <a:ext cx="3327400" cy="703153"/>
            </a:xfrm>
            <a:custGeom>
              <a:avLst/>
              <a:gdLst>
                <a:gd name="csX0" fmla="*/ 3327400 w 3327400"/>
                <a:gd name="csY0" fmla="*/ 17354 h 703153"/>
                <a:gd name="csX1" fmla="*/ 969264 w 3327400"/>
                <a:gd name="csY1" fmla="*/ 18 h 703153"/>
                <a:gd name="csX2" fmla="*/ 602678 w 3327400"/>
                <a:gd name="csY2" fmla="*/ 131019 h 703153"/>
                <a:gd name="csX3" fmla="*/ 0 w 3327400"/>
                <a:gd name="csY3" fmla="*/ 633304 h 703153"/>
                <a:gd name="csX4" fmla="*/ 3244850 w 3327400"/>
                <a:gd name="csY4" fmla="*/ 703154 h 703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7400" h="703153">
                  <a:moveTo>
                    <a:pt x="3327400" y="17354"/>
                  </a:moveTo>
                  <a:cubicBezTo>
                    <a:pt x="3109849" y="17354"/>
                    <a:pt x="1540510" y="4654"/>
                    <a:pt x="969264" y="18"/>
                  </a:cubicBezTo>
                  <a:cubicBezTo>
                    <a:pt x="835419" y="-1055"/>
                    <a:pt x="705529" y="45357"/>
                    <a:pt x="602678" y="131019"/>
                  </a:cubicBezTo>
                  <a:lnTo>
                    <a:pt x="0" y="633304"/>
                  </a:lnTo>
                  <a:lnTo>
                    <a:pt x="3244850" y="703154"/>
                  </a:lnTo>
                  <a:close/>
                </a:path>
              </a:pathLst>
            </a:custGeom>
            <a:solidFill>
              <a:srgbClr val="253C6D"/>
            </a:solidFill>
            <a:ln w="6350" cap="flat">
              <a:noFill/>
              <a:prstDash val="solid"/>
              <a:miter/>
            </a:ln>
          </p:spPr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158948-199E-54F6-CC6A-CD062D4B5441}"/>
                </a:ext>
              </a:extLst>
            </p:cNvPr>
            <p:cNvSpPr/>
            <p:nvPr/>
          </p:nvSpPr>
          <p:spPr>
            <a:xfrm>
              <a:off x="0" y="5921502"/>
              <a:ext cx="12192000" cy="936497"/>
            </a:xfrm>
            <a:custGeom>
              <a:avLst/>
              <a:gdLst>
                <a:gd name="csX0" fmla="*/ 12192000 w 12192000"/>
                <a:gd name="csY0" fmla="*/ 2350 h 936497"/>
                <a:gd name="csX1" fmla="*/ 7964170 w 12192000"/>
                <a:gd name="csY1" fmla="*/ 0 h 936497"/>
                <a:gd name="csX2" fmla="*/ 7649019 w 12192000"/>
                <a:gd name="csY2" fmla="*/ 107315 h 936497"/>
                <a:gd name="csX3" fmla="*/ 6943027 w 12192000"/>
                <a:gd name="csY3" fmla="*/ 652272 h 936497"/>
                <a:gd name="csX4" fmla="*/ 6714427 w 12192000"/>
                <a:gd name="csY4" fmla="*/ 730187 h 936497"/>
                <a:gd name="csX5" fmla="*/ 0 w 12192000"/>
                <a:gd name="csY5" fmla="*/ 733298 h 936497"/>
                <a:gd name="csX6" fmla="*/ 0 w 12192000"/>
                <a:gd name="csY6" fmla="*/ 936498 h 936497"/>
                <a:gd name="csX7" fmla="*/ 12192000 w 12192000"/>
                <a:gd name="csY7" fmla="*/ 936498 h 93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192000" h="936497">
                  <a:moveTo>
                    <a:pt x="12192000" y="2350"/>
                  </a:moveTo>
                  <a:lnTo>
                    <a:pt x="7964170" y="0"/>
                  </a:lnTo>
                  <a:cubicBezTo>
                    <a:pt x="7850124" y="-76"/>
                    <a:pt x="7739317" y="37668"/>
                    <a:pt x="7649019" y="107315"/>
                  </a:cubicBezTo>
                  <a:lnTo>
                    <a:pt x="6943027" y="652272"/>
                  </a:lnTo>
                  <a:cubicBezTo>
                    <a:pt x="6877558" y="702818"/>
                    <a:pt x="6797168" y="730187"/>
                    <a:pt x="6714427" y="730187"/>
                  </a:cubicBezTo>
                  <a:lnTo>
                    <a:pt x="0" y="733298"/>
                  </a:lnTo>
                  <a:lnTo>
                    <a:pt x="0" y="936498"/>
                  </a:lnTo>
                  <a:lnTo>
                    <a:pt x="12192000" y="936498"/>
                  </a:lnTo>
                  <a:close/>
                </a:path>
              </a:pathLst>
            </a:custGeom>
            <a:solidFill>
              <a:srgbClr val="F2842F"/>
            </a:solidFill>
            <a:ln w="6350" cap="flat">
              <a:noFill/>
              <a:prstDash val="solid"/>
              <a:miter/>
            </a:ln>
          </p:spPr>
        </p:sp>
      </p:grpSp>
      <p:sp>
        <p:nvSpPr>
          <p:cNvPr id="3" name="Google Shape;202;p45">
            <a:extLst>
              <a:ext uri="{FF2B5EF4-FFF2-40B4-BE49-F238E27FC236}">
                <a16:creationId xmlns:a16="http://schemas.microsoft.com/office/drawing/2014/main" id="{6BF16071-0212-0BAB-F060-72458C919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8" name="Picture 7" descr="Sathyabama Institute of Science and Technology Marks Calculator | CGPA &amp;  SGPA">
            <a:extLst>
              <a:ext uri="{FF2B5EF4-FFF2-40B4-BE49-F238E27FC236}">
                <a16:creationId xmlns:a16="http://schemas.microsoft.com/office/drawing/2014/main" id="{F2C043C2-F269-2061-CA94-F6ACF5D2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01" y="148062"/>
            <a:ext cx="1047750" cy="10477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420C4F-56EC-8F21-F85A-F539849A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011DAA12-713E-1B53-F990-5B1A0D6AE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>
            <a:lvl1pPr>
              <a:buFontTx/>
              <a:buNone/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9979108" y="364408"/>
            <a:ext cx="1955579" cy="6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7FB7-8A81-2B7E-ED1D-92AF28D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7671-D508-B7AD-B296-E1CA617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2D36-9015-9164-2ED7-AD3DF460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5E12-DB88-696D-9012-0D8486CF5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C9F-DDFD-4251-4985-A2941FAC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FE0C-FD5A-4524-A8B1-CEC4446D43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FDAC-57A7-98AC-D986-6B23EEBC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6CD56A3-578C-0180-77A5-729AC080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</p:spPr>
        <p:txBody>
          <a:bodyPr>
            <a:normAutofit/>
          </a:bodyPr>
          <a:lstStyle/>
          <a:p>
            <a:r>
              <a:rPr lang="en-US" dirty="0"/>
              <a:t>WILDGUARD AI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8589B8E-4A29-73AF-5A2F-EB72CC734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>
            <a:normAutofit/>
          </a:bodyPr>
          <a:lstStyle/>
          <a:p>
            <a:r>
              <a:rPr lang="en-US" sz="1600" dirty="0"/>
              <a:t>Project: AI-Powered Wildlife Detection and Smart Crop Protection System</a:t>
            </a:r>
          </a:p>
          <a:p>
            <a:r>
              <a:rPr lang="en-US" sz="1600" dirty="0"/>
              <a:t>Team Name: [Add team name as registered on portal]</a:t>
            </a:r>
          </a:p>
          <a:p>
            <a:r>
              <a:rPr lang="en-US" sz="1600" dirty="0"/>
              <a:t>Theme: [Add hackathon theme]</a:t>
            </a:r>
          </a:p>
          <a:p>
            <a:r>
              <a:rPr lang="en-US" sz="1600" dirty="0"/>
              <a:t>PS Category: [Select Software / Hardware – project has both components]</a:t>
            </a:r>
          </a:p>
          <a:p>
            <a:r>
              <a:rPr lang="en-US" sz="1600" dirty="0"/>
              <a:t>Team ID: [Add team ID]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A1547A-8CFB-621B-D78D-7A6A2FC212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2075" y="6356350"/>
            <a:ext cx="3209925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74EA7-003F-89B1-1E7C-F8A57DE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/>
              <a:t>IDEA TITLE: WILDGUARD AI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F55E-3122-1F47-4A39-E67B9B6E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8FC1CE-9842-CF70-2FC2-083A84783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0" indent="0">
              <a:buNone/>
            </a:pPr>
            <a:r>
              <a:rPr lang="en-US" sz="1700" b="1" dirty="0"/>
              <a:t>Proposed Solution: AI-powered wildlife detection and smart crop protection for farm boundaries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Detailed explanation of the proposed solution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An edge camera watches the field boundary; a YOLO-based model detects and classifies animals such as elephants, wild boars, deer and monkeys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Decision logic chooses the response by species, confidence and situation: instant farmer alert plus an optional controlled warning output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Every event is logged (time, species, action) for review and model improvement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How it addresses the problem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Crop raiding and dangerous encounters are often noticed too late; WildGuard AI gives early, species-aware warning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Farmers can respond sooner and avoid confronting animals in the dark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Innovation and uniqueness of the solution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Species-aware response instead of generic, always-on noise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Controlled sound output with a calibrated limit and automatic shutoff; coverage designed for a defined farm area and validated under real conditions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500" dirty="0"/>
              <a:t>Less unnecessary noise and better human–wildlife conflict prevention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200" i="1" dirty="0"/>
              <a:t>Note: All features are proposed. Animal-directed sound needs validation with wildlife experts and regulatory compliance; no prototype or field results are claimed.</a:t>
            </a:r>
          </a:p>
        </p:txBody>
      </p:sp>
    </p:spTree>
    <p:extLst>
      <p:ext uri="{BB962C8B-B14F-4D97-AF65-F5344CB8AC3E}">
        <p14:creationId xmlns:p14="http://schemas.microsoft.com/office/powerpoint/2010/main" val="385517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9B2-4145-047E-4788-11A7E65A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56E314-826D-F661-98DC-382C68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TECHNICAL APPROACH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8579B-D1ED-8571-DE02-5C97F25C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E683CC-7AD2-3D83-D0E5-34D9E4E33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140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b="1" dirty="0"/>
              <a:t>Technologies to be used (proposed):</a:t>
            </a:r>
            <a:r>
              <a:rPr lang="en-US" sz="1500" dirty="0"/>
              <a:t> Python, OpenCV, YOLO object detection; Raspberry Pi or compatible edge-AI device; ESP32; camera module; controlled speaker; warning indicators; solar power; GSM / Wi-Fi / LoRa communication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500" b="1" dirty="0"/>
              <a:t>Methodology and process for implementation:</a:t>
            </a:r>
            <a:r>
              <a:rPr lang="en-US" sz="1500" dirty="0"/>
              <a:t> proposed system flow (illustrative)</a:t>
            </a:r>
          </a:p>
        </p:txBody>
      </p:sp>
      <p:sp>
        <p:nvSpPr>
          <p:cNvPr id="101" name="Flow 101"/>
          <p:cNvSpPr/>
          <p:nvPr/>
        </p:nvSpPr>
        <p:spPr>
          <a:xfrm>
            <a:off x="371475" y="2880360"/>
            <a:ext cx="16002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Camera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Day/night field-edge video</a:t>
            </a:r>
          </a:p>
        </p:txBody>
      </p:sp>
      <p:sp>
        <p:nvSpPr>
          <p:cNvPr id="102" name="Flow 102"/>
          <p:cNvSpPr/>
          <p:nvPr/>
        </p:nvSpPr>
        <p:spPr>
          <a:xfrm>
            <a:off x="2337435" y="2880360"/>
            <a:ext cx="16002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AI detection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YOLO model on edge device</a:t>
            </a:r>
          </a:p>
        </p:txBody>
      </p:sp>
      <p:sp>
        <p:nvSpPr>
          <p:cNvPr id="103" name="Flow 103"/>
          <p:cNvSpPr/>
          <p:nvPr/>
        </p:nvSpPr>
        <p:spPr>
          <a:xfrm>
            <a:off x="4303395" y="2880360"/>
            <a:ext cx="16002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Animal classification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Species + confidence score</a:t>
            </a:r>
          </a:p>
        </p:txBody>
      </p:sp>
      <p:sp>
        <p:nvSpPr>
          <p:cNvPr id="104" name="Flow 104"/>
          <p:cNvSpPr/>
          <p:nvPr/>
        </p:nvSpPr>
        <p:spPr>
          <a:xfrm>
            <a:off x="6269355" y="2880360"/>
            <a:ext cx="16002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Decision logic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Rules by species, confidence, time</a:t>
            </a:r>
          </a:p>
        </p:txBody>
      </p:sp>
      <p:sp>
        <p:nvSpPr>
          <p:cNvPr id="105" name="Flow 105"/>
          <p:cNvSpPr/>
          <p:nvPr/>
        </p:nvSpPr>
        <p:spPr>
          <a:xfrm>
            <a:off x="8235315" y="2514600"/>
            <a:ext cx="1600200" cy="987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Farmer alert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Notification via GSM / Wi-Fi / LoRa</a:t>
            </a:r>
          </a:p>
        </p:txBody>
      </p:sp>
      <p:sp>
        <p:nvSpPr>
          <p:cNvPr id="106" name="Flow 106"/>
          <p:cNvSpPr/>
          <p:nvPr/>
        </p:nvSpPr>
        <p:spPr>
          <a:xfrm>
            <a:off x="8235315" y="3630168"/>
            <a:ext cx="1600200" cy="987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Controlled warning*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Indicators + limited sound with auto-off</a:t>
            </a:r>
          </a:p>
        </p:txBody>
      </p:sp>
      <p:sp>
        <p:nvSpPr>
          <p:cNvPr id="107" name="Flow 107"/>
          <p:cNvSpPr/>
          <p:nvPr/>
        </p:nvSpPr>
        <p:spPr>
          <a:xfrm>
            <a:off x="10201275" y="2880360"/>
            <a:ext cx="16002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Event logging</a:t>
            </a:r>
          </a:p>
          <a:p>
            <a:pPr algn="ctr"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</a:rPr>
              <a:t>Time, species, action taken</a:t>
            </a:r>
          </a:p>
        </p:txBody>
      </p:sp>
      <p:sp>
        <p:nvSpPr>
          <p:cNvPr id="108" name="Flow 108"/>
          <p:cNvSpPr/>
          <p:nvPr/>
        </p:nvSpPr>
        <p:spPr>
          <a:xfrm>
            <a:off x="2017395" y="3429000"/>
            <a:ext cx="27432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endParaRPr lang="en-US"/>
          </a:p>
        </p:txBody>
      </p:sp>
      <p:sp>
        <p:nvSpPr>
          <p:cNvPr id="109" name="Flow 109"/>
          <p:cNvSpPr/>
          <p:nvPr/>
        </p:nvSpPr>
        <p:spPr>
          <a:xfrm>
            <a:off x="3983355" y="3429000"/>
            <a:ext cx="27432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endParaRPr lang="en-US"/>
          </a:p>
        </p:txBody>
      </p:sp>
      <p:sp>
        <p:nvSpPr>
          <p:cNvPr id="110" name="Flow 110"/>
          <p:cNvSpPr/>
          <p:nvPr/>
        </p:nvSpPr>
        <p:spPr>
          <a:xfrm>
            <a:off x="5949315" y="3429000"/>
            <a:ext cx="27432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endParaRPr lang="en-US"/>
          </a:p>
        </p:txBody>
      </p:sp>
      <p:sp>
        <p:nvSpPr>
          <p:cNvPr id="111" name="Flow 111"/>
          <p:cNvSpPr/>
          <p:nvPr/>
        </p:nvSpPr>
        <p:spPr>
          <a:xfrm>
            <a:off x="7915275" y="3429000"/>
            <a:ext cx="27432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endParaRPr lang="en-US"/>
          </a:p>
        </p:txBody>
      </p:sp>
      <p:sp>
        <p:nvSpPr>
          <p:cNvPr id="112" name="Flow 112"/>
          <p:cNvSpPr/>
          <p:nvPr/>
        </p:nvSpPr>
        <p:spPr>
          <a:xfrm>
            <a:off x="9881235" y="3429000"/>
            <a:ext cx="274320" cy="2743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endParaRPr lang="en-US"/>
          </a:p>
        </p:txBody>
      </p:sp>
      <p:sp>
        <p:nvSpPr>
          <p:cNvPr id="113" name="Note 113"/>
          <p:cNvSpPr txBox="1"/>
          <p:nvPr/>
        </p:nvSpPr>
        <p:spPr>
          <a:xfrm>
            <a:off x="371475" y="4754880"/>
            <a:ext cx="11430000" cy="960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/>
              <a:t>*Sound output is a proposed feature: calibrated volume limit, automatic shutoff and coverage designed for a defined farm area. It needs validation with wildlife experts and regulatory compliance; its effect on any species (e.g., elephants) is not assumed.</a:t>
            </a:r>
          </a:p>
          <a:p>
            <a:pPr>
              <a:spcBef>
                <a:spcPts val="400"/>
              </a:spcBef>
            </a:pPr>
            <a:r>
              <a:rPr lang="en-US" sz="1200" dirty="0"/>
              <a:t>Illustrative architecture only. ESP32 drives indicators/speaker; solar panel with battery powers the field unit. No prototype completion or accuracy results are claimed.</a:t>
            </a:r>
          </a:p>
        </p:txBody>
      </p:sp>
    </p:spTree>
    <p:extLst>
      <p:ext uri="{BB962C8B-B14F-4D97-AF65-F5344CB8AC3E}">
        <p14:creationId xmlns:p14="http://schemas.microsoft.com/office/powerpoint/2010/main" val="203222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B02-F265-94FF-6DDE-A3106183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FEASIBILITY AND VIABILITY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1EADFB-1101-5DB8-BB14-B9D50D522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Analysis of the feasibility of the idea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Technical:</a:t>
            </a:r>
            <a:r>
              <a:rPr lang="en-US" sz="1700" dirty="0"/>
              <a:t> relies on mature, low-cost parts (open-source YOLO/OpenCV, edge boards, ESP32, standard comms modules); on-device inference keeps working with weak connectivity (to be benchmarked)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Operational:</a:t>
            </a:r>
            <a:r>
              <a:rPr lang="en-US" sz="1700" dirty="0"/>
              <a:t> solar power and low-bandwidth alerts suit remote farms; modular design allows a phased start at one field boundary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Potential challenges and risks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Missed detections or false alarms at night, in rain, fog or dense vegetation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Animals may habituate to sound or light; effect varies by species and is unproven for elephants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Connectivity gaps, power or weather failures, damage or tampering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Noise disturbance to people and wildlife; regulatory compliance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Strategies for overcoming these challenges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Build a varied field dataset, test day/night (IR) conditions, tune thresholds and require multi-frame confirmation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Alert-first design; sound used only within a calibrated limit with automatic shutoff and a defined coverage area, validated with wildlife experts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Local event buffering when offline; solar + battery; weatherproof enclosure</a:t>
            </a:r>
          </a:p>
        </p:txBody>
      </p:sp>
    </p:spTree>
    <p:extLst>
      <p:ext uri="{BB962C8B-B14F-4D97-AF65-F5344CB8AC3E}">
        <p14:creationId xmlns:p14="http://schemas.microsoft.com/office/powerpoint/2010/main" val="369248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6AE-5B58-1B80-0EAF-10AC003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95AAEE-0716-FFBD-AA8F-1709F25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IN" dirty="0"/>
              <a:t>B</a:t>
            </a:r>
            <a:r>
              <a:rPr lang="en-US" dirty="0"/>
              <a:t>USINESS CANVAS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D3C0-45B9-4F61-CC2E-E7819EB7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BE356E-B92D-BC18-5616-7985E08D2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Mission &amp; vision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Mission:</a:t>
            </a:r>
            <a:r>
              <a:rPr lang="en-US" sz="1700" dirty="0"/>
              <a:t> help farmers protect crops and lives through early, species-aware warnings and responsible deterrence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Vision:</a:t>
            </a:r>
            <a:r>
              <a:rPr lang="en-US" sz="1700" dirty="0"/>
              <a:t> safer coexistence between farming communities and wildlife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Market &amp; competitive analysis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Target users (proposed):</a:t>
            </a:r>
            <a:r>
              <a:rPr lang="en-US" sz="1700" dirty="0"/>
              <a:t> farmers in wildlife-prone regions, farmer groups, forest-fringe villages, plantations; market size to be researched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b="1" dirty="0"/>
              <a:t>Alternatives:</a:t>
            </a:r>
            <a:r>
              <a:rPr lang="en-US" sz="1700" dirty="0"/>
              <a:t> fencing, night watch, generic alarms, basic trap cameras; proposed gap: low-cost, species-aware, alert-first with controlled output (to be validated)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Business perspective analysis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Possible model: field unit plus optional alert service; pilots with farmer groups, NGOs or agriculture/forest programmes (proposed; no partnerships established)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Financial planning &amp; requirements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Needs: edge device, camera, ESP32, speaker and indicators, solar kit, connectivity, field testing, expert consultation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700" dirty="0"/>
              <a:t>Budget / cost per unit: [To be added after component quotations]</a:t>
            </a:r>
          </a:p>
        </p:txBody>
      </p:sp>
    </p:spTree>
    <p:extLst>
      <p:ext uri="{BB962C8B-B14F-4D97-AF65-F5344CB8AC3E}">
        <p14:creationId xmlns:p14="http://schemas.microsoft.com/office/powerpoint/2010/main" val="240836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7B8-F5D6-3D86-94BE-3F5ED1B8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67624-53B3-3D31-2B35-373FAA66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dirty="0"/>
              <a:t>IMPACT AND BENEFITS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F363D-C4B0-D7BE-2CB3-5316C2D4F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6C0CC6-69DF-FFA4-21C0-4344321D5A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Potential impact on the target audience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Farmers:</a:t>
            </a:r>
            <a:r>
              <a:rPr lang="en-US" sz="1900" dirty="0"/>
              <a:t> earlier warning, quicker response, fewer risky night-time confrontations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Farming communities:</a:t>
            </a:r>
            <a:r>
              <a:rPr lang="en-US" sz="1900" dirty="0"/>
              <a:t> lower risk of dangerous encounters and less guard-duty burden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100" b="1" dirty="0"/>
              <a:t>Benefits of the solution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Social:</a:t>
            </a:r>
            <a:r>
              <a:rPr lang="en-US" sz="1900" dirty="0"/>
              <a:t> improved safety and peace of mind for farm families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Economic:</a:t>
            </a:r>
            <a:r>
              <a:rPr lang="en-US" sz="1900" dirty="0"/>
              <a:t> potential to reduce crop loss and guarding effort (to be measured in pilots)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Environmental:</a:t>
            </a:r>
            <a:r>
              <a:rPr lang="en-US" sz="1900" dirty="0"/>
              <a:t> less unnecessary noise and fewer harmful responses toward wildlife, supporting coexistence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b="1" dirty="0"/>
              <a:t>Data:</a:t>
            </a:r>
            <a:r>
              <a:rPr lang="en-US" sz="1900" dirty="0"/>
              <a:t> event logs can reveal animal movement patterns to support planning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200" i="1" dirty="0"/>
              <a:t>Impact is expected, not yet measured; figures will come from validated pilot deployments.</a:t>
            </a:r>
          </a:p>
        </p:txBody>
      </p:sp>
    </p:spTree>
    <p:extLst>
      <p:ext uri="{BB962C8B-B14F-4D97-AF65-F5344CB8AC3E}">
        <p14:creationId xmlns:p14="http://schemas.microsoft.com/office/powerpoint/2010/main" val="39485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DFAE-A482-800C-BDE7-191E7C5E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2AA865-8A43-4424-BF3F-C2BAD14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</p:spPr>
        <p:txBody>
          <a:bodyPr>
            <a:normAutofit/>
          </a:bodyPr>
          <a:lstStyle/>
          <a:p>
            <a:r>
              <a:rPr lang="en-US" dirty="0"/>
              <a:t>RESEARCH  AND 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C97E-BADD-963B-CFF7-507C4D4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23928-3D63-423C-F329-D41831692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/>
              <a:t>Details / links of the reference and research work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YOLO object detection: Redmon et al., “You Only Look Once” (CVPR 2016); Ultralytics docs: docs.ultralytics.com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OpenCV documentation: docs.opencv.org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Raspberry Pi documentation: raspberrypi.com/documentation; ESP32: docs.espressif.com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Human–wildlife conflict mitigation studies and local wildlife/noise regulations: [Add specific papers, reports and rules consulted]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Wildlife expert consultation: [Add names / organisations once confirmed]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100" b="1" dirty="0"/>
              <a:t>GitHub Repository Link</a:t>
            </a:r>
          </a:p>
          <a:p>
            <a:pPr marL="6858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sz="1900" dirty="0"/>
              <a:t>[Add repository URL once created]</a:t>
            </a:r>
          </a:p>
        </p:txBody>
      </p:sp>
    </p:spTree>
    <p:extLst>
      <p:ext uri="{BB962C8B-B14F-4D97-AF65-F5344CB8AC3E}">
        <p14:creationId xmlns:p14="http://schemas.microsoft.com/office/powerpoint/2010/main" val="346001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xath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842F"/>
      </a:accent1>
      <a:accent2>
        <a:srgbClr val="253C6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TITLE PAGE</vt:lpstr>
      <vt:lpstr>IDEA TITLE</vt:lpstr>
      <vt:lpstr>TECHNICAL APPROACH</vt:lpstr>
      <vt:lpstr>FEASIBILITY AND VIABILITY</vt:lpstr>
      <vt:lpstr>BUSINESS CANVAS</vt:lpstr>
      <vt:lpstr>IMPACT AND BENEFITS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Jones</dc:creator>
  <cp:lastModifiedBy>Cyril Jones</cp:lastModifiedBy>
  <cp:revision>7</cp:revision>
  <dcterms:created xsi:type="dcterms:W3CDTF">2026-10-05T08:02:12Z</dcterms:created>
  <dcterms:modified xsi:type="dcterms:W3CDTF">2026-10-05T08:33:08Z</dcterms:modified>
</cp:coreProperties>
</file>